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64" r:id="rId3"/>
    <p:sldId id="269" r:id="rId4"/>
    <p:sldId id="257" r:id="rId5"/>
    <p:sldId id="258" r:id="rId6"/>
    <p:sldId id="266" r:id="rId7"/>
    <p:sldId id="260" r:id="rId8"/>
    <p:sldId id="265" r:id="rId9"/>
    <p:sldId id="267" r:id="rId10"/>
    <p:sldId id="268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100" d="100"/>
          <a:sy n="100" d="100"/>
        </p:scale>
        <p:origin x="1014" y="21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2DD414-BB9E-46ED-B86A-63594C92D51D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E1A761B-CDDD-4660-966E-7D4022E283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85775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1A761B-CDDD-4660-966E-7D4022E2838A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76984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sz="3200" dirty="0">
                <a:solidFill>
                  <a:srgbClr val="0070C0"/>
                </a:solidFill>
              </a:rPr>
              <a:t>E</a:t>
            </a:r>
            <a:r>
              <a:rPr lang="en-US" sz="3200" dirty="0">
                <a:solidFill>
                  <a:srgbClr val="0070C0"/>
                </a:solidFill>
              </a:rPr>
              <a:t>mployee</a:t>
            </a:r>
            <a:r>
              <a:rPr sz="3200" dirty="0">
                <a:solidFill>
                  <a:srgbClr val="0070C0"/>
                </a:solidFill>
              </a:rPr>
              <a:t> Management System (EMS)</a:t>
            </a:r>
            <a:br>
              <a:rPr lang="en-US" sz="3200" dirty="0">
                <a:solidFill>
                  <a:srgbClr val="0070C0"/>
                </a:solidFill>
              </a:rPr>
            </a:br>
            <a:r>
              <a:rPr lang="en-US" sz="3200" dirty="0">
                <a:solidFill>
                  <a:srgbClr val="0070C0"/>
                </a:solidFill>
              </a:rPr>
              <a:t>23-10-2025</a:t>
            </a:r>
            <a:endParaRPr sz="3200" dirty="0">
              <a:solidFill>
                <a:srgbClr val="0070C0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By</a:t>
            </a:r>
          </a:p>
          <a:p>
            <a:r>
              <a:rPr lang="en-US" dirty="0"/>
              <a:t> </a:t>
            </a:r>
            <a:r>
              <a:rPr lang="en-US" sz="2000" dirty="0">
                <a:solidFill>
                  <a:srgbClr val="0070C0"/>
                </a:solidFill>
              </a:rPr>
              <a:t>Devendra Yadav &amp; Gang Ferdinand </a:t>
            </a:r>
            <a:endParaRPr sz="2000" dirty="0">
              <a:solidFill>
                <a:srgbClr val="0070C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E31592-81B6-C846-4D8B-DC916E5315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goal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F8250F-F6E0-7C3A-F9EE-2780584253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sz="1600" b="1" dirty="0"/>
          </a:p>
          <a:p>
            <a:pPr marL="0" indent="0">
              <a:buNone/>
            </a:pPr>
            <a:r>
              <a:rPr lang="en-US" sz="1600" b="1" dirty="0"/>
              <a:t>Project goal: </a:t>
            </a:r>
            <a:r>
              <a:rPr lang="en-US" sz="1800" dirty="0"/>
              <a:t>The primary goal of this project is to design and implement a non-framework-dependent N-Tier Java application using pure JDBC for data persistence. </a:t>
            </a:r>
          </a:p>
        </p:txBody>
      </p:sp>
    </p:spTree>
    <p:extLst>
      <p:ext uri="{BB962C8B-B14F-4D97-AF65-F5344CB8AC3E}">
        <p14:creationId xmlns:p14="http://schemas.microsoft.com/office/powerpoint/2010/main" val="6769488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68AF5748-FED8-45BA-8631-26D1D10F32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C9E6C59-C913-B872-C2C1-4A506E1924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0800000" flipV="1">
            <a:off x="244185" y="204520"/>
            <a:ext cx="7766340" cy="350375"/>
          </a:xfrm>
        </p:spPr>
        <p:txBody>
          <a:bodyPr vert="horz" lIns="91440" tIns="45720" rIns="91440" bIns="45720" rtlCol="0" anchor="b">
            <a:no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2400" kern="1200" dirty="0">
                <a:solidFill>
                  <a:srgbClr val="0070C0"/>
                </a:solidFill>
                <a:latin typeface="+mj-lt"/>
                <a:ea typeface="+mj-ea"/>
                <a:cs typeface="+mj-cs"/>
              </a:rPr>
              <a:t>Domain classes and Attributes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51653" y="434802"/>
            <a:ext cx="146304" cy="52806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60771" y="4546920"/>
            <a:ext cx="301752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5" name="Content Placeholder 4" descr="A document with text on it&#10;&#10;AI-generated content may be incorrect.">
            <a:extLst>
              <a:ext uri="{FF2B5EF4-FFF2-40B4-BE49-F238E27FC236}">
                <a16:creationId xmlns:a16="http://schemas.microsoft.com/office/drawing/2014/main" id="{5CC94F25-025C-EFED-F17D-CC6DE302CA1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88838" y="1360022"/>
            <a:ext cx="7894390" cy="4517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94426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diagram of a company&#10;&#10;AI-generated content may be incorrect.">
            <a:extLst>
              <a:ext uri="{FF2B5EF4-FFF2-40B4-BE49-F238E27FC236}">
                <a16:creationId xmlns:a16="http://schemas.microsoft.com/office/drawing/2014/main" id="{E4E97772-B65C-7BD5-D8C5-6502EE3245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900" y="1111250"/>
            <a:ext cx="7681863" cy="4514749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6258F736-B256-8039-9DC6-F4E49A5C5A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9051478" y="0"/>
            <a:ext cx="92522" cy="6858000"/>
            <a:chOff x="12068638" y="0"/>
            <a:chExt cx="123362" cy="685800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10B4520A-996E-330C-99DA-69CA4D89E9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EC8FA945-E356-695F-18D6-CAD4EF34FE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0A5746F-6E42-8F39-31C9-67B805C829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3163" y="114301"/>
            <a:ext cx="8229600" cy="453910"/>
          </a:xfrm>
        </p:spPr>
        <p:txBody>
          <a:bodyPr>
            <a:noAutofit/>
          </a:bodyPr>
          <a:lstStyle/>
          <a:p>
            <a:r>
              <a:rPr lang="en-US" sz="2400" dirty="0">
                <a:solidFill>
                  <a:srgbClr val="0070C0"/>
                </a:solidFill>
              </a:rPr>
              <a:t>UML Diagram for EMS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46112"/>
          </a:xfrm>
        </p:spPr>
        <p:txBody>
          <a:bodyPr>
            <a:normAutofit/>
          </a:bodyPr>
          <a:lstStyle/>
          <a:p>
            <a:pPr algn="l"/>
            <a:r>
              <a:rPr sz="2400" dirty="0">
                <a:solidFill>
                  <a:srgbClr val="0070C0"/>
                </a:solidFill>
              </a:rPr>
              <a:t>Functional </a:t>
            </a:r>
            <a:r>
              <a:rPr lang="en-US" sz="2400" dirty="0">
                <a:solidFill>
                  <a:srgbClr val="0070C0"/>
                </a:solidFill>
              </a:rPr>
              <a:t>&amp; Non Functional </a:t>
            </a:r>
            <a:r>
              <a:rPr sz="2400" dirty="0">
                <a:solidFill>
                  <a:srgbClr val="0070C0"/>
                </a:solidFill>
              </a:rPr>
              <a:t>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4050" y="1651001"/>
            <a:ext cx="3517900" cy="2368550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200000"/>
              </a:lnSpc>
              <a:buNone/>
            </a:pPr>
            <a:r>
              <a:rPr lang="en-US" sz="1200" dirty="0"/>
              <a:t>Functional Requirements:</a:t>
            </a:r>
          </a:p>
          <a:p>
            <a:pPr>
              <a:lnSpc>
                <a:spcPct val="200000"/>
              </a:lnSpc>
            </a:pPr>
            <a:r>
              <a:rPr sz="1200" dirty="0"/>
              <a:t>Calculate project HR cost</a:t>
            </a:r>
            <a:endParaRPr lang="en-US" sz="1200" dirty="0"/>
          </a:p>
          <a:p>
            <a:pPr>
              <a:lnSpc>
                <a:spcPct val="200000"/>
              </a:lnSpc>
            </a:pPr>
            <a:r>
              <a:rPr sz="1200" dirty="0"/>
              <a:t>Generate department project reports</a:t>
            </a:r>
          </a:p>
          <a:p>
            <a:pPr>
              <a:lnSpc>
                <a:spcPct val="200000"/>
              </a:lnSpc>
            </a:pPr>
            <a:r>
              <a:rPr sz="1200" dirty="0"/>
              <a:t>Identify high-value clients</a:t>
            </a:r>
          </a:p>
          <a:p>
            <a:pPr>
              <a:lnSpc>
                <a:spcPct val="200000"/>
              </a:lnSpc>
            </a:pPr>
            <a:r>
              <a:rPr sz="1200" dirty="0"/>
              <a:t>Perform employee transfer transactions</a:t>
            </a:r>
          </a:p>
          <a:p>
            <a:pPr>
              <a:lnSpc>
                <a:spcPct val="200000"/>
              </a:lnSpc>
            </a:pPr>
            <a:r>
              <a:rPr sz="1200" dirty="0"/>
              <a:t>Support full CRUD for employees and projects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A4A1A43-E95D-4AD5-4C3D-E4597B718AA5}"/>
              </a:ext>
            </a:extLst>
          </p:cNvPr>
          <p:cNvSpPr txBox="1">
            <a:spLocks/>
          </p:cNvSpPr>
          <p:nvPr/>
        </p:nvSpPr>
        <p:spPr>
          <a:xfrm>
            <a:off x="4972052" y="1682753"/>
            <a:ext cx="3244850" cy="24638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200000"/>
              </a:lnSpc>
              <a:buNone/>
            </a:pPr>
            <a:r>
              <a:rPr lang="en-US" sz="1200" dirty="0"/>
              <a:t>Non Functional Requirements:</a:t>
            </a:r>
          </a:p>
          <a:p>
            <a:pPr>
              <a:lnSpc>
                <a:spcPct val="200000"/>
              </a:lnSpc>
            </a:pPr>
            <a:r>
              <a:rPr lang="en-US" sz="1200" dirty="0"/>
              <a:t>Reliability and accuracy</a:t>
            </a:r>
          </a:p>
          <a:p>
            <a:pPr>
              <a:lnSpc>
                <a:spcPct val="200000"/>
              </a:lnSpc>
            </a:pPr>
            <a:r>
              <a:rPr lang="en-US" sz="1200" dirty="0"/>
              <a:t>User-friendly interface</a:t>
            </a:r>
          </a:p>
          <a:p>
            <a:pPr>
              <a:lnSpc>
                <a:spcPct val="200000"/>
              </a:lnSpc>
            </a:pPr>
            <a:r>
              <a:rPr lang="en-US" sz="1200" dirty="0"/>
              <a:t>Efficient performance</a:t>
            </a:r>
          </a:p>
          <a:p>
            <a:pPr>
              <a:lnSpc>
                <a:spcPct val="200000"/>
              </a:lnSpc>
            </a:pPr>
            <a:r>
              <a:rPr lang="en-US" sz="1200" dirty="0"/>
              <a:t>Secure data handling</a:t>
            </a:r>
          </a:p>
          <a:p>
            <a:pPr>
              <a:lnSpc>
                <a:spcPct val="200000"/>
              </a:lnSpc>
            </a:pPr>
            <a:r>
              <a:rPr lang="en-US" sz="1200" dirty="0"/>
              <a:t>Maintainable and scalable codebase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429F4-C443-257E-8916-0B20A4E810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1237" y="512606"/>
            <a:ext cx="2591866" cy="439894"/>
          </a:xfrm>
        </p:spPr>
        <p:txBody>
          <a:bodyPr anchor="b">
            <a:noAutofit/>
          </a:bodyPr>
          <a:lstStyle/>
          <a:p>
            <a:r>
              <a:rPr lang="en-US" sz="2400" dirty="0">
                <a:solidFill>
                  <a:srgbClr val="0070C0"/>
                </a:solidFill>
              </a:rPr>
              <a:t>Database Tables</a:t>
            </a:r>
          </a:p>
        </p:txBody>
      </p:sp>
      <p:pic>
        <p:nvPicPr>
          <p:cNvPr id="4" name="Picture 3" descr="A diagram of a project">
            <a:extLst>
              <a:ext uri="{FF2B5EF4-FFF2-40B4-BE49-F238E27FC236}">
                <a16:creationId xmlns:a16="http://schemas.microsoft.com/office/drawing/2014/main" id="{6C960A97-1EFB-360F-CC8E-4A1C48A549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4100" y="1212851"/>
            <a:ext cx="7478663" cy="41256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98443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6418" y="291088"/>
            <a:ext cx="6143331" cy="465109"/>
          </a:xfrm>
        </p:spPr>
        <p:txBody>
          <a:bodyPr anchor="b">
            <a:normAutofit/>
          </a:bodyPr>
          <a:lstStyle/>
          <a:p>
            <a:pPr algn="l"/>
            <a:r>
              <a:rPr lang="en-US" sz="2400" dirty="0">
                <a:solidFill>
                  <a:srgbClr val="0070C0"/>
                </a:solidFill>
              </a:rPr>
              <a:t>Use Cases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7519" y="1415876"/>
            <a:ext cx="2591866" cy="3143424"/>
          </a:xfrm>
        </p:spPr>
        <p:txBody>
          <a:bodyPr anchor="t">
            <a:normAutofit/>
          </a:bodyPr>
          <a:lstStyle/>
          <a:p>
            <a:pPr marL="0" indent="0">
              <a:lnSpc>
                <a:spcPct val="300000"/>
              </a:lnSpc>
              <a:buNone/>
            </a:pPr>
            <a:r>
              <a:rPr lang="en-US" sz="1200" dirty="0"/>
              <a:t>1. Calculate Project HR Cost</a:t>
            </a:r>
          </a:p>
          <a:p>
            <a:pPr marL="0" indent="0">
              <a:lnSpc>
                <a:spcPct val="300000"/>
              </a:lnSpc>
              <a:buNone/>
            </a:pPr>
            <a:r>
              <a:rPr lang="en-US" sz="1200" dirty="0"/>
              <a:t>2. Department Project Report</a:t>
            </a:r>
          </a:p>
          <a:p>
            <a:pPr marL="0" indent="0">
              <a:lnSpc>
                <a:spcPct val="300000"/>
              </a:lnSpc>
              <a:buNone/>
            </a:pPr>
            <a:r>
              <a:rPr lang="en-US" sz="1200" dirty="0"/>
              <a:t>3. High-Value Client Identification</a:t>
            </a:r>
          </a:p>
          <a:p>
            <a:pPr marL="0" indent="0">
              <a:lnSpc>
                <a:spcPct val="300000"/>
              </a:lnSpc>
              <a:buNone/>
            </a:pPr>
            <a:r>
              <a:rPr lang="en-US" sz="1200" dirty="0"/>
              <a:t>4. Employee Transfer Transaction</a:t>
            </a:r>
          </a:p>
          <a:p>
            <a:pPr marL="0" indent="0">
              <a:lnSpc>
                <a:spcPct val="300000"/>
              </a:lnSpc>
              <a:buNone/>
            </a:pPr>
            <a:r>
              <a:rPr lang="en-US" sz="1200" dirty="0"/>
              <a:t>5. CRUD for Employees and Projects</a:t>
            </a:r>
          </a:p>
        </p:txBody>
      </p:sp>
      <p:pic>
        <p:nvPicPr>
          <p:cNvPr id="5" name="Picture 4" descr="A diagram of a company&#10;&#10;AI-generated content may be incorrect.">
            <a:extLst>
              <a:ext uri="{FF2B5EF4-FFF2-40B4-BE49-F238E27FC236}">
                <a16:creationId xmlns:a16="http://schemas.microsoft.com/office/drawing/2014/main" id="{A5185277-09C6-1AEB-2FD7-DAA9001CEB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5300" y="988752"/>
            <a:ext cx="5497463" cy="4889805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6258F736-B256-8039-9DC6-F4E49A5C5A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9051478" y="0"/>
            <a:ext cx="92522" cy="6858000"/>
            <a:chOff x="12068638" y="0"/>
            <a:chExt cx="123362" cy="685800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10B4520A-996E-330C-99DA-69CA4D89E9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EC8FA945-E356-695F-18D6-CAD4EF34FE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467D6F-1240-974C-CF2F-536AB3606B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337386"/>
            <a:ext cx="7083131" cy="541309"/>
          </a:xfrm>
        </p:spPr>
        <p:txBody>
          <a:bodyPr anchor="b">
            <a:normAutofit/>
          </a:bodyPr>
          <a:lstStyle/>
          <a:p>
            <a:pPr algn="l"/>
            <a:r>
              <a:rPr lang="en-US" sz="2400" dirty="0">
                <a:solidFill>
                  <a:srgbClr val="0070C0"/>
                </a:solidFill>
              </a:rPr>
              <a:t>Sequence diagram for </a:t>
            </a:r>
            <a:r>
              <a:rPr lang="en-US" sz="2400" dirty="0" err="1">
                <a:solidFill>
                  <a:srgbClr val="0070C0"/>
                </a:solidFill>
              </a:rPr>
              <a:t>calculateProjectHRCost</a:t>
            </a:r>
            <a:endParaRPr lang="en-US" sz="2400" dirty="0">
              <a:solidFill>
                <a:srgbClr val="0070C0"/>
              </a:solidFill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6258F736-B256-8039-9DC6-F4E49A5C5A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9051478" y="0"/>
            <a:ext cx="92522" cy="6858000"/>
            <a:chOff x="12068638" y="0"/>
            <a:chExt cx="123362" cy="6858000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10B4520A-996E-330C-99DA-69CA4D89E9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EC8FA945-E356-695F-18D6-CAD4EF34FE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9" name="Picture 18">
            <a:extLst>
              <a:ext uri="{FF2B5EF4-FFF2-40B4-BE49-F238E27FC236}">
                <a16:creationId xmlns:a16="http://schemas.microsoft.com/office/drawing/2014/main" id="{17F3E12E-8EC2-ED9D-777B-3AD9C2FC85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9244" y="1104900"/>
            <a:ext cx="7910759" cy="5086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58466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FFFAB3-5C10-B423-55BB-0F27FD6A4E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57212"/>
          </a:xfrm>
        </p:spPr>
        <p:txBody>
          <a:bodyPr>
            <a:normAutofit/>
          </a:bodyPr>
          <a:lstStyle/>
          <a:p>
            <a:r>
              <a:rPr lang="en-US" sz="2400" dirty="0">
                <a:solidFill>
                  <a:srgbClr val="0070C0"/>
                </a:solidFill>
              </a:rPr>
              <a:t>Implementation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EF68664E-DB9F-E4E4-B93C-FEA874B8C680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8208" y="1282700"/>
            <a:ext cx="7447584" cy="48434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296795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EB0EDE-7736-900F-C5E6-365668466E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E3AA77AF-4765-29B2-5B7E-CD444DB2F072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2311" y="1600200"/>
            <a:ext cx="6959378" cy="4525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202191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988</TotalTime>
  <Words>140</Words>
  <Application>Microsoft Office PowerPoint</Application>
  <PresentationFormat>On-screen Show (4:3)</PresentationFormat>
  <Paragraphs>32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Arial</vt:lpstr>
      <vt:lpstr>Calibri</vt:lpstr>
      <vt:lpstr>Office Theme</vt:lpstr>
      <vt:lpstr>Employee Management System (EMS) 23-10-2025</vt:lpstr>
      <vt:lpstr>Project goal</vt:lpstr>
      <vt:lpstr>Domain classes and Attributes</vt:lpstr>
      <vt:lpstr>PowerPoint Presentation</vt:lpstr>
      <vt:lpstr>Functional &amp; Non Functional Requirements</vt:lpstr>
      <vt:lpstr>Database Tables</vt:lpstr>
      <vt:lpstr>Use Cases Overview</vt:lpstr>
      <vt:lpstr>Sequence diagram for calculateProjectHRCost</vt:lpstr>
      <vt:lpstr>Implementation</vt:lpstr>
      <vt:lpstr>Results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Gang Ferdinand Dinga</dc:creator>
  <cp:keywords/>
  <dc:description>generated using python-pptx</dc:description>
  <cp:lastModifiedBy>Ferdinand Dinga Gang</cp:lastModifiedBy>
  <cp:revision>18</cp:revision>
  <dcterms:created xsi:type="dcterms:W3CDTF">2013-01-27T09:14:16Z</dcterms:created>
  <dcterms:modified xsi:type="dcterms:W3CDTF">2025-10-23T19:50:49Z</dcterms:modified>
  <cp:category/>
</cp:coreProperties>
</file>